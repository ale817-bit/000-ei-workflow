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9" r:id="rId6"/>
    <p:sldId id="262" r:id="rId7"/>
    <p:sldId id="264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CF"/>
    <a:srgbClr val="005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【中文规范】标志-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3355340"/>
            <a:ext cx="5344795" cy="170688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363345"/>
            <a:ext cx="10073005" cy="1991995"/>
          </a:xfrm>
        </p:spPr>
        <p:txBody>
          <a:bodyPr>
            <a:norm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ym typeface="+mn-ea"/>
              </a:rPr>
              <a:t>品牌基础标志</a:t>
            </a:r>
            <a:r>
              <a:rPr lang="en-US" altLang="zh-CN" sz="1400" b="1">
                <a:sym typeface="+mn-ea"/>
              </a:rPr>
              <a:t>/</a:t>
            </a:r>
            <a:r>
              <a:rPr lang="en-US" altLang="zh-CN" sz="1400" b="1"/>
              <a:t>Brand Primary Logo</a:t>
            </a:r>
            <a:endParaRPr lang="en-US" altLang="zh-CN" sz="1400" b="1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400" b="1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/>
              <a:t>严格</a:t>
            </a:r>
            <a:r>
              <a:rPr lang="zh-CN" altLang="en-US" sz="1200"/>
              <a:t>遵守品牌规范使用，品牌基础标志由英文字标与中文字标组成。主要其元素间的相对大小和位置是固定的，其中英文字标可以独立使用，中文字标不可单独使用。腾讯标志只能从最终规范文件中直接拷贝，不能重新绘制或者擅自组合。用于对外宣传，作为推广品牌和企业形象的首选标志。</a:t>
            </a:r>
            <a:endParaRPr lang="zh-CN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370840"/>
            <a:ext cx="10073005" cy="3229610"/>
          </a:xfrm>
        </p:spPr>
        <p:txBody>
          <a:bodyPr>
            <a:norm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/>
              <a:t>字体规范</a:t>
            </a:r>
            <a:r>
              <a:rPr lang="en-US" altLang="zh-CN" sz="1400" b="1"/>
              <a:t>/Typography Specification</a:t>
            </a:r>
            <a:endParaRPr lang="en-US" altLang="zh-CN" sz="1400" b="1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400" b="1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/>
              <a:t>标题字和内文字使用</a:t>
            </a:r>
            <a:endParaRPr lang="zh-CN" altLang="en-US" sz="1200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200"/>
              <a:t>腾讯体(W7)在设计中作为标题字使用的情况下，内文字体优先采用思源黑体，其次再考虑腾讯体(W3).</a:t>
            </a:r>
            <a:endParaRPr lang="zh-CN" altLang="en-US" sz="1200"/>
          </a:p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200"/>
              <a:t>腾讯体(W7)可配合腾讯体(W3)同时使用，腾讯体(W7)仅可起强调，突出作用，不推荐大面积使用。</a:t>
            </a:r>
            <a:endParaRPr lang="zh-CN" altLang="en-US" sz="1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575" y="2620645"/>
            <a:ext cx="5635625" cy="3152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71575" y="5979160"/>
            <a:ext cx="52387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00000"/>
              </a:lnSpc>
              <a:buFont typeface="Wingdings" panose="05000000000000000000" charset="0"/>
              <a:buChar char="ü"/>
            </a:pPr>
            <a:r>
              <a:rPr lang="zh-CN" altLang="en-US" sz="1000">
                <a:sym typeface="+mn-ea"/>
              </a:rPr>
              <a:t>使用腾讯体中文时应对应回腾讯体英文</a:t>
            </a:r>
            <a:endParaRPr lang="zh-CN" altLang="en-US" sz="1000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485" y="2620645"/>
            <a:ext cx="3383280" cy="3204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09600" y="412115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ym typeface="+mn-ea"/>
              </a:rPr>
              <a:t>视觉分析/</a:t>
            </a:r>
            <a:r>
              <a:rPr lang="zh-CN" altLang="en-US" sz="1400" b="1">
                <a:sym typeface="+mn-ea"/>
              </a:rPr>
              <a:t>visual analysis</a:t>
            </a:r>
            <a:endParaRPr lang="zh-CN" altLang="en-US" sz="1400" b="1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10826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延展图形</a:t>
            </a:r>
            <a:endParaRPr lang="zh-CN" altLang="en-US" sz="120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09600" y="1707515"/>
            <a:ext cx="10796905" cy="82931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腾讯延展图形系统是一个可变动的完整体，其中图形设计层次中的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基础元素</a:t>
            </a:r>
            <a:r>
              <a:rPr lang="en-US" altLang="zh-CN" sz="1200">
                <a:sym typeface="+mn-ea"/>
              </a:rPr>
              <a:t>"</a:t>
            </a:r>
            <a:r>
              <a:rPr lang="zh-CN" altLang="en-US" sz="1200">
                <a:sym typeface="+mn-ea"/>
              </a:rPr>
              <a:t>，在遵循斜8度切割的原则下，可根据实际应用情况，适当对图形的长度，高度，颜色以及切割比例进行调整，以更灵活地应用到设计当中。</a:t>
            </a:r>
            <a:endParaRPr lang="zh-CN" altLang="en-US" sz="1200"/>
          </a:p>
        </p:txBody>
      </p:sp>
      <p:grpSp>
        <p:nvGrpSpPr>
          <p:cNvPr id="8" name="组合 7"/>
          <p:cNvGrpSpPr/>
          <p:nvPr/>
        </p:nvGrpSpPr>
        <p:grpSpPr>
          <a:xfrm>
            <a:off x="854710" y="2793365"/>
            <a:ext cx="10706100" cy="3437890"/>
            <a:chOff x="1466" y="4152"/>
            <a:chExt cx="16051" cy="5154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66" y="4152"/>
              <a:ext cx="5871" cy="515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rcRect l="11324" t="24415" r="13049" b="4952"/>
            <a:stretch>
              <a:fillRect/>
            </a:stretch>
          </p:blipFill>
          <p:spPr>
            <a:xfrm>
              <a:off x="7757" y="4152"/>
              <a:ext cx="9760" cy="50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745" y="1209040"/>
            <a:ext cx="4951730" cy="478282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85800" y="523240"/>
            <a:ext cx="5630545" cy="5562600"/>
          </a:xfrm>
        </p:spPr>
        <p:txBody>
          <a:bodyPr>
            <a:norm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1200" b="1">
                <a:sym typeface="+mn-ea"/>
              </a:rPr>
              <a:t>视觉分析</a:t>
            </a:r>
            <a:r>
              <a:rPr lang="en-US" altLang="zh-CN" sz="1200" b="1">
                <a:sym typeface="+mn-ea"/>
              </a:rPr>
              <a:t>/</a:t>
            </a:r>
            <a:r>
              <a:rPr lang="en-US" altLang="zh-CN" sz="1400" b="1"/>
              <a:t>visual analysis</a:t>
            </a:r>
            <a:endParaRPr lang="en-US" altLang="zh-CN" sz="1400" b="1"/>
          </a:p>
          <a:p>
            <a:pPr>
              <a:lnSpc>
                <a:spcPct val="150000"/>
              </a:lnSpc>
            </a:pP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设计构思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/>
              <a:t>本次设计严格遵循腾讯延展图形系统斜八度切割的核心底层规范，以「</a:t>
            </a:r>
            <a:r>
              <a:rPr lang="en-US" altLang="zh-CN" sz="1200"/>
              <a:t>AI </a:t>
            </a:r>
            <a:r>
              <a:rPr lang="zh-CN" altLang="en-US" sz="1200"/>
              <a:t>友邻」为贯穿全案的核心概念，彻底重构</a:t>
            </a:r>
            <a:r>
              <a:rPr lang="en-US" altLang="zh-CN" sz="1200"/>
              <a:t> AI </a:t>
            </a:r>
            <a:r>
              <a:rPr lang="zh-CN" altLang="en-US" sz="1200"/>
              <a:t>与用户的视觉关系。设计打破</a:t>
            </a:r>
            <a:r>
              <a:rPr lang="en-US" altLang="zh-CN" sz="1200"/>
              <a:t> AI“</a:t>
            </a:r>
            <a:r>
              <a:rPr lang="zh-CN" altLang="en-US" sz="1200"/>
              <a:t>遥不可及的科技奇观、单向输出的冰冷工具</a:t>
            </a:r>
            <a:r>
              <a:rPr lang="en-US" altLang="zh-CN" sz="1200"/>
              <a:t>” </a:t>
            </a:r>
            <a:r>
              <a:rPr lang="zh-CN" altLang="en-US" sz="1200"/>
              <a:t>的行业固有认知，将</a:t>
            </a:r>
            <a:r>
              <a:rPr lang="en-US" altLang="zh-CN" sz="1200"/>
              <a:t> AI </a:t>
            </a:r>
            <a:r>
              <a:rPr lang="zh-CN" altLang="en-US" sz="1200"/>
              <a:t>重新定义为平等陪伴、</a:t>
            </a:r>
            <a:r>
              <a:rPr lang="zh-CN" altLang="en-US" sz="1200" b="1"/>
              <a:t>双向对话</a:t>
            </a:r>
            <a:r>
              <a:rPr lang="zh-CN" altLang="en-US" sz="1200"/>
              <a:t>、靠谱兜底、全场景适配的</a:t>
            </a:r>
            <a:r>
              <a:rPr lang="en-US" altLang="zh-CN" sz="1200"/>
              <a:t> </a:t>
            </a:r>
            <a:r>
              <a:rPr lang="en-US" altLang="zh-CN" sz="1200" b="1"/>
              <a:t>“</a:t>
            </a:r>
            <a:r>
              <a:rPr lang="zh-CN" altLang="en-US" sz="1200" b="1"/>
              <a:t>身边友邻</a:t>
            </a:r>
            <a:r>
              <a:rPr lang="en-US" altLang="zh-CN" sz="1200" b="1"/>
              <a:t>”</a:t>
            </a:r>
            <a:r>
              <a:rPr lang="zh-CN" altLang="en-US" sz="1200" b="1"/>
              <a:t>；以「对话」为核心视觉符号</a:t>
            </a:r>
            <a:r>
              <a:rPr lang="zh-CN" altLang="en-US" sz="1200"/>
              <a:t>，在坚守斜八度切割原则、保障品牌视觉统一性与秩序感的基础上，用双向平等的对话形态，替代传统</a:t>
            </a:r>
            <a:r>
              <a:rPr lang="en-US" altLang="zh-CN" sz="1200"/>
              <a:t> AI </a:t>
            </a:r>
            <a:r>
              <a:rPr lang="zh-CN" altLang="en-US" sz="1200"/>
              <a:t>视觉中冰冷的单向科技线条，从视觉底层传递</a:t>
            </a:r>
            <a:r>
              <a:rPr lang="en-US" altLang="zh-CN" sz="1200"/>
              <a:t> “</a:t>
            </a:r>
            <a:r>
              <a:rPr lang="zh-CN" altLang="en-US" sz="1200"/>
              <a:t>友邻式</a:t>
            </a:r>
            <a:r>
              <a:rPr lang="en-US" altLang="zh-CN" sz="1200"/>
              <a:t>” </a:t>
            </a:r>
            <a:r>
              <a:rPr lang="zh-CN" altLang="en-US" sz="1200"/>
              <a:t>平等松弛的互动关系，实现品牌规范坚守与主题创意表达的深度统一。</a:t>
            </a:r>
            <a:endParaRPr lang="zh-CN" altLang="en-US" sz="1200"/>
          </a:p>
          <a:p>
            <a:pPr>
              <a:lnSpc>
                <a:spcPct val="150000"/>
              </a:lnSpc>
            </a:pP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「友」的属性：以鲜活、有情绪、有互动感的视觉表达，传递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AI 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的亲和力，打造无距离感的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“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活人感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，适配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C 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端生活场景、互动传播的视觉需求；</a:t>
            </a:r>
            <a:endParaRPr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「邻」的属性：以稳重、有序、专业的视觉基底，传递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AI 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的可靠性与承载力，适配</a:t>
            </a:r>
            <a:r>
              <a:rPr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To B </a:t>
            </a:r>
            <a:r>
              <a: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产业基建、专业内容输出的严谨需求，从根源解决纯趣味风格无法承载硬核产业内容的核心问题。</a:t>
            </a:r>
            <a:endParaRPr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29600" y="2519680"/>
            <a:ext cx="1677035" cy="1143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6000" b="1">
                <a:solidFill>
                  <a:schemeClr val="bg1"/>
                </a:solidFill>
                <a:sym typeface="+mn-ea"/>
              </a:rPr>
              <a:t>AI</a:t>
            </a:r>
            <a:endParaRPr lang="en-US" altLang="zh-CN" sz="60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 descr="色彩-02"/>
          <p:cNvPicPr>
            <a:picLocks noChangeAspect="1"/>
          </p:cNvPicPr>
          <p:nvPr/>
        </p:nvPicPr>
        <p:blipFill>
          <a:blip r:embed="rId1"/>
          <a:srcRect r="61586" b="11855"/>
          <a:stretch>
            <a:fillRect/>
          </a:stretch>
        </p:blipFill>
        <p:spPr>
          <a:xfrm>
            <a:off x="-304800" y="0"/>
            <a:ext cx="4892675" cy="6318885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85800" y="523240"/>
            <a:ext cx="5630545" cy="5562600"/>
          </a:xfrm>
        </p:spPr>
        <p:txBody>
          <a:bodyPr>
            <a:norm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1200" b="1">
                <a:sym typeface="+mn-ea"/>
              </a:rPr>
              <a:t>视觉分析</a:t>
            </a:r>
            <a:r>
              <a:rPr lang="en-US" altLang="zh-CN" sz="1200" b="1">
                <a:sym typeface="+mn-ea"/>
              </a:rPr>
              <a:t>/</a:t>
            </a:r>
            <a:r>
              <a:rPr lang="en-US" altLang="zh-CN" sz="1400" b="1"/>
              <a:t>visual analysis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色彩分析与</a:t>
            </a:r>
            <a:r>
              <a:rPr lang="zh-CN" altLang="en-US" sz="1200">
                <a:sym typeface="+mn-ea"/>
              </a:rPr>
              <a:t>应用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3" name="图片 22" descr="腾讯色彩-02"/>
          <p:cNvPicPr>
            <a:picLocks noChangeAspect="1"/>
          </p:cNvPicPr>
          <p:nvPr/>
        </p:nvPicPr>
        <p:blipFill>
          <a:blip r:embed="rId2"/>
          <a:srcRect l="58935"/>
          <a:stretch>
            <a:fillRect/>
          </a:stretch>
        </p:blipFill>
        <p:spPr>
          <a:xfrm>
            <a:off x="7531100" y="2540"/>
            <a:ext cx="5003800" cy="68580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950595" y="5586095"/>
            <a:ext cx="10203815" cy="893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zh-CN" altLang="en-US" sz="900">
                <a:solidFill>
                  <a:schemeClr val="tx1"/>
                </a:solidFill>
                <a:sym typeface="+mn-ea"/>
              </a:rPr>
              <a:t>主色调</a:t>
            </a:r>
            <a:r>
              <a:rPr lang="en-US" altLang="zh-CN" sz="900">
                <a:solidFill>
                  <a:schemeClr val="tx1"/>
                </a:solidFill>
                <a:sym typeface="+mn-ea"/>
              </a:rPr>
              <a:t>——</a:t>
            </a:r>
            <a:r>
              <a:rPr lang="zh-CN" altLang="en-US" sz="900">
                <a:solidFill>
                  <a:schemeClr val="tx1"/>
                </a:solidFill>
                <a:sym typeface="+mn-ea"/>
              </a:rPr>
              <a:t>腾讯蓝</a:t>
            </a:r>
            <a:endParaRPr lang="zh-CN" altLang="en-US" sz="90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本次设计以腾讯蓝为全案视觉的唯一核心主色，作为贯穿所有场景的色彩基底与视觉骨架。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在此基础上，搭配专属辅助渐变色彩体系，以柔和的色彩过渡与腾讯蓝形成层次呼应，精准承接「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AI 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友邻」中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 “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友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” 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的陪伴属性，传递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 AI “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温柔回应</a:t>
            </a: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” </a:t>
            </a:r>
            <a:r>
              <a:rPr lang="zh-CN" altLang="en-US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的情绪价值，以及双向「对话」的平等松弛感与人文温度。</a:t>
            </a:r>
            <a:endParaRPr lang="zh-CN" altLang="en-US" sz="900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127625" y="2389505"/>
            <a:ext cx="2944495" cy="2493010"/>
            <a:chOff x="8075" y="3763"/>
            <a:chExt cx="4637" cy="3926"/>
          </a:xfrm>
        </p:grpSpPr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8596" y="3763"/>
              <a:ext cx="4116" cy="90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marL="171450" indent="-17145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Tencent Blue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RGB/R0 G82 B217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CMYK/C100  M60 Y0 K0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 algn="l">
                <a:lnSpc>
                  <a:spcPct val="100000"/>
                </a:lnSpc>
                <a:buClrTx/>
                <a:buSzTx/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html/0052D9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8596" y="5538"/>
              <a:ext cx="3264" cy="47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RGB/R0 G169 B206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CMYK/C88  M0 Y11 K0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6"/>
              </p:custDataLst>
            </p:nvPr>
          </p:nvSpPr>
          <p:spPr>
            <a:xfrm>
              <a:off x="8596" y="6378"/>
              <a:ext cx="2649" cy="47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RGB/R121 G192 B0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CMYK/C20  M0 Y98 K0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</p:txBody>
        </p:sp>
        <p:sp>
          <p:nvSpPr>
            <p:cNvPr id="12" name="椭圆 11"/>
            <p:cNvSpPr/>
            <p:nvPr>
              <p:custDataLst>
                <p:tags r:id="rId7"/>
              </p:custDataLst>
            </p:nvPr>
          </p:nvSpPr>
          <p:spPr>
            <a:xfrm>
              <a:off x="8075" y="6378"/>
              <a:ext cx="521" cy="521"/>
            </a:xfrm>
            <a:prstGeom prst="ellipse">
              <a:avLst/>
            </a:prstGeom>
            <a:solidFill>
              <a:srgbClr val="00CC7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>
              <p:custDataLst>
                <p:tags r:id="rId8"/>
              </p:custDataLst>
            </p:nvPr>
          </p:nvSpPr>
          <p:spPr>
            <a:xfrm>
              <a:off x="8075" y="5568"/>
              <a:ext cx="521" cy="521"/>
            </a:xfrm>
            <a:prstGeom prst="ellipse">
              <a:avLst/>
            </a:prstGeom>
            <a:solidFill>
              <a:srgbClr val="00AAC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>
              <p:custDataLst>
                <p:tags r:id="rId9"/>
              </p:custDataLst>
            </p:nvPr>
          </p:nvSpPr>
          <p:spPr>
            <a:xfrm>
              <a:off x="8075" y="3763"/>
              <a:ext cx="521" cy="521"/>
            </a:xfrm>
            <a:prstGeom prst="ellipse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0052D9"/>
                </a:solidFill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8596" y="7138"/>
              <a:ext cx="2649" cy="47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RGB/R155 G38 B182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  <a:p>
              <a:pPr marL="171450" indent="-171450">
                <a:lnSpc>
                  <a:spcPct val="100000"/>
                </a:lnSpc>
                <a:buFont typeface="Wingdings" panose="05000000000000000000" charset="0"/>
                <a:buChar char="ü"/>
              </a:pPr>
              <a:r>
                <a:rPr lang="en-US" altLang="zh-CN" sz="900">
                  <a:solidFill>
                    <a:schemeClr val="tx1">
                      <a:lumMod val="50000"/>
                      <a:lumOff val="50000"/>
                    </a:schemeClr>
                  </a:solidFill>
                  <a:sym typeface="+mn-ea"/>
                </a:rPr>
                <a:t>CMYK/C58  M90 Y0 K0</a:t>
              </a:r>
              <a:endPara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11"/>
              </p:custDataLst>
            </p:nvPr>
          </p:nvSpPr>
          <p:spPr>
            <a:xfrm>
              <a:off x="8075" y="7168"/>
              <a:ext cx="521" cy="521"/>
            </a:xfrm>
            <a:prstGeom prst="ellipse">
              <a:avLst/>
            </a:prstGeom>
            <a:solidFill>
              <a:srgbClr val="9C26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色彩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1167130"/>
            <a:ext cx="10264140" cy="5776595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85800" y="523240"/>
            <a:ext cx="5630545" cy="5562600"/>
          </a:xfrm>
        </p:spPr>
        <p:txBody>
          <a:bodyPr>
            <a:norm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1200" b="1">
                <a:sym typeface="+mn-ea"/>
              </a:rPr>
              <a:t>视觉分析</a:t>
            </a:r>
            <a:r>
              <a:rPr lang="en-US" altLang="zh-CN" sz="1200" b="1">
                <a:sym typeface="+mn-ea"/>
              </a:rPr>
              <a:t>/</a:t>
            </a:r>
            <a:r>
              <a:rPr lang="en-US" altLang="zh-CN" sz="1400" b="1"/>
              <a:t>visual analysis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标题</a:t>
            </a:r>
            <a:r>
              <a:rPr lang="zh-CN" altLang="en-US" sz="1200">
                <a:sym typeface="+mn-ea"/>
              </a:rPr>
              <a:t>设计</a:t>
            </a:r>
            <a:endParaRPr lang="zh-CN" altLang="en-US" sz="12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5200" y="1412875"/>
            <a:ext cx="6314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设计构思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ym typeface="+mn-ea"/>
              </a:rPr>
              <a:t>主标题以对话气泡为核心造型，呼应「对话」主题与「</a:t>
            </a:r>
            <a:r>
              <a:rPr lang="en-US" altLang="zh-CN" sz="1200">
                <a:sym typeface="+mn-ea"/>
              </a:rPr>
              <a:t>AI </a:t>
            </a:r>
            <a:r>
              <a:rPr lang="zh-CN" altLang="en-US" sz="1200">
                <a:sym typeface="+mn-ea"/>
              </a:rPr>
              <a:t>友邻」定位，严格遵循腾讯斜八度规范，以腾讯蓝渐变打造，兼顾品牌专业度与陪伴温度感。</a:t>
            </a:r>
            <a:endParaRPr lang="zh-CN" altLang="en-US" sz="12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09600" y="412115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>
                <a:sym typeface="+mn-ea"/>
              </a:rPr>
              <a:t>视觉分析/</a:t>
            </a:r>
            <a:r>
              <a:rPr lang="zh-CN" altLang="en-US" sz="1400" b="1">
                <a:sym typeface="+mn-ea"/>
              </a:rPr>
              <a:t>visual analysis</a:t>
            </a:r>
            <a:endParaRPr lang="zh-CN" altLang="en-US" sz="1400" b="1"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0" y="1527628"/>
            <a:ext cx="12192628" cy="4405177"/>
            <a:chOff x="435" y="1637"/>
            <a:chExt cx="19409" cy="701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rcRect l="1127" t="1674" r="2614" b="1255"/>
            <a:stretch>
              <a:fillRect/>
            </a:stretch>
          </p:blipFill>
          <p:spPr>
            <a:xfrm>
              <a:off x="11901" y="1652"/>
              <a:ext cx="4062" cy="4599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435" y="1637"/>
              <a:ext cx="11466" cy="7012"/>
              <a:chOff x="435" y="1643"/>
              <a:chExt cx="8441" cy="5162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rcRect l="15792" t="16731" r="16995" b="16880"/>
              <a:stretch>
                <a:fillRect/>
              </a:stretch>
            </p:blipFill>
            <p:spPr>
              <a:xfrm>
                <a:off x="4669" y="1661"/>
                <a:ext cx="4207" cy="5144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" y="1643"/>
                <a:ext cx="4234" cy="5141"/>
              </a:xfrm>
              <a:prstGeom prst="rect">
                <a:avLst/>
              </a:prstGeom>
            </p:spPr>
          </p:pic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01" y="6251"/>
              <a:ext cx="4073" cy="239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4405" y="3210"/>
              <a:ext cx="6997" cy="3881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685800" y="10826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>
              <a:lnSpc>
                <a:spcPct val="15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战区</a:t>
            </a:r>
            <a:r>
              <a:rPr lang="zh-CN" altLang="en-US" sz="1200">
                <a:sym typeface="+mn-ea"/>
              </a:rPr>
              <a:t>内容意向</a:t>
            </a:r>
            <a:endParaRPr lang="zh-CN" altLang="en-US" sz="1200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2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3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4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5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6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7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8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ags/tag9.xml><?xml version="1.0" encoding="utf-8"?>
<p:tagLst xmlns:p="http://schemas.openxmlformats.org/presentationml/2006/main">
  <p:tag name="KSO_WM_DIAGRAM_VIRTUALLY_FRAME" val="{&quot;height&quot;:346.15,&quot;left&quot;:82.5,&quot;top&quot;:96.95,&quot;width&quot;:858.0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WPS 演示</Application>
  <PresentationFormat>宽屏</PresentationFormat>
  <Paragraphs>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MS PGothic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</dc:creator>
  <cp:lastModifiedBy>93%</cp:lastModifiedBy>
  <cp:revision>10</cp:revision>
  <dcterms:created xsi:type="dcterms:W3CDTF">2023-08-09T12:44:00Z</dcterms:created>
  <dcterms:modified xsi:type="dcterms:W3CDTF">2026-04-15T04:00:56Z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7A10A848FEC74A7E91C20021E046601F_12</vt:lpwstr>
  </property>
</Properties>
</file>